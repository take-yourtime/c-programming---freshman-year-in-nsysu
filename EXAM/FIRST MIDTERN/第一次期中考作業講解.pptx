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73" r:id="rId1"/>
  </p:sldMasterIdLst>
  <p:notesMasterIdLst>
    <p:notesMasterId r:id="rId30"/>
  </p:notesMasterIdLst>
  <p:sldIdLst>
    <p:sldId id="334" r:id="rId2"/>
    <p:sldId id="457" r:id="rId3"/>
    <p:sldId id="469" r:id="rId4"/>
    <p:sldId id="441" r:id="rId5"/>
    <p:sldId id="458" r:id="rId6"/>
    <p:sldId id="460" r:id="rId7"/>
    <p:sldId id="459" r:id="rId8"/>
    <p:sldId id="461" r:id="rId9"/>
    <p:sldId id="463" r:id="rId10"/>
    <p:sldId id="464" r:id="rId11"/>
    <p:sldId id="466" r:id="rId12"/>
    <p:sldId id="465" r:id="rId13"/>
    <p:sldId id="470" r:id="rId14"/>
    <p:sldId id="467" r:id="rId15"/>
    <p:sldId id="468" r:id="rId16"/>
    <p:sldId id="456" r:id="rId17"/>
    <p:sldId id="452" r:id="rId18"/>
    <p:sldId id="453" r:id="rId19"/>
    <p:sldId id="454" r:id="rId20"/>
    <p:sldId id="455" r:id="rId21"/>
    <p:sldId id="451" r:id="rId22"/>
    <p:sldId id="447" r:id="rId23"/>
    <p:sldId id="448" r:id="rId24"/>
    <p:sldId id="449" r:id="rId25"/>
    <p:sldId id="443" r:id="rId26"/>
    <p:sldId id="446" r:id="rId27"/>
    <p:sldId id="450" r:id="rId28"/>
    <p:sldId id="435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微軟正黑體" panose="020B0604030504040204" pitchFamily="34" charset="-12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104"/>
    <a:srgbClr val="00B050"/>
    <a:srgbClr val="CE5E34"/>
    <a:srgbClr val="0000FF"/>
    <a:srgbClr val="FFFFFF"/>
    <a:srgbClr val="FFC000"/>
    <a:srgbClr val="D16138"/>
    <a:srgbClr val="CE5123"/>
    <a:srgbClr val="ECC1B1"/>
    <a:srgbClr val="A14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428933-9A99-4FC0-911A-C2346B7B68BD}">
  <a:tblStyle styleId="{40428933-9A99-4FC0-911A-C2346B7B68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890" autoAdjust="0"/>
    <p:restoredTop sz="85680" autoAdjust="0"/>
  </p:normalViewPr>
  <p:slideViewPr>
    <p:cSldViewPr snapToGrid="0">
      <p:cViewPr varScale="1">
        <p:scale>
          <a:sx n="129" d="100"/>
          <a:sy n="129" d="100"/>
        </p:scale>
        <p:origin x="69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8691\Desktop\C&#35486;&#35328;&#31532;&#19968;&#27425;&#26399;&#20013;&#32771;&#25104;&#3231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</a:t>
            </a:r>
            <a:r>
              <a:rPr lang="zh-TW"/>
              <a:t>語言第一次期中考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[1]Mid1!$J$12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[1]Mid1!$J$13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A-4D94-AC35-F17EF0A35248}"/>
            </c:ext>
          </c:extLst>
        </c:ser>
        <c:ser>
          <c:idx val="2"/>
          <c:order val="1"/>
          <c:tx>
            <c:strRef>
              <c:f>[1]Mid1!$K$12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[1]Mid1!$K$13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AA-4D94-AC35-F17EF0A35248}"/>
            </c:ext>
          </c:extLst>
        </c:ser>
        <c:ser>
          <c:idx val="3"/>
          <c:order val="2"/>
          <c:tx>
            <c:strRef>
              <c:f>[1]Mid1!$L$12</c:f>
              <c:strCache>
                <c:ptCount val="1"/>
                <c:pt idx="0">
                  <c:v>20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[1]Mid1!$L$13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AA-4D94-AC35-F17EF0A35248}"/>
            </c:ext>
          </c:extLst>
        </c:ser>
        <c:ser>
          <c:idx val="4"/>
          <c:order val="3"/>
          <c:tx>
            <c:strRef>
              <c:f>[1]Mid1!$M$12</c:f>
              <c:strCache>
                <c:ptCount val="1"/>
                <c:pt idx="0">
                  <c:v>30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[1]Mid1!$M$13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AA-4D94-AC35-F17EF0A35248}"/>
            </c:ext>
          </c:extLst>
        </c:ser>
        <c:ser>
          <c:idx val="5"/>
          <c:order val="4"/>
          <c:tx>
            <c:strRef>
              <c:f>[1]Mid1!$N$12</c:f>
              <c:strCache>
                <c:ptCount val="1"/>
                <c:pt idx="0">
                  <c:v>40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[1]Mid1!$N$13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AA-4D94-AC35-F17EF0A35248}"/>
            </c:ext>
          </c:extLst>
        </c:ser>
        <c:ser>
          <c:idx val="6"/>
          <c:order val="5"/>
          <c:tx>
            <c:strRef>
              <c:f>[1]Mid1!$O$12</c:f>
              <c:strCache>
                <c:ptCount val="1"/>
                <c:pt idx="0">
                  <c:v>50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[1]Mid1!$O$13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AA-4D94-AC35-F17EF0A35248}"/>
            </c:ext>
          </c:extLst>
        </c:ser>
        <c:ser>
          <c:idx val="7"/>
          <c:order val="6"/>
          <c:tx>
            <c:strRef>
              <c:f>[1]Mid1!$P$12</c:f>
              <c:strCache>
                <c:ptCount val="1"/>
                <c:pt idx="0">
                  <c:v>60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[1]Mid1!$P$13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AA-4D94-AC35-F17EF0A35248}"/>
            </c:ext>
          </c:extLst>
        </c:ser>
        <c:ser>
          <c:idx val="8"/>
          <c:order val="7"/>
          <c:tx>
            <c:strRef>
              <c:f>[1]Mid1!$Q$12</c:f>
              <c:strCache>
                <c:ptCount val="1"/>
                <c:pt idx="0">
                  <c:v>70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[1]Mid1!$Q$13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BAA-4D94-AC35-F17EF0A35248}"/>
            </c:ext>
          </c:extLst>
        </c:ser>
        <c:ser>
          <c:idx val="9"/>
          <c:order val="8"/>
          <c:tx>
            <c:strRef>
              <c:f>[1]Mid1!$R$12</c:f>
              <c:strCache>
                <c:ptCount val="1"/>
                <c:pt idx="0">
                  <c:v>80</c:v>
                </c:pt>
              </c:strCache>
            </c:strRef>
          </c:tx>
          <c:spPr>
            <a:solidFill>
              <a:schemeClr val="accent6">
                <a:lumMod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[1]Mid1!$R$13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AA-4D94-AC35-F17EF0A35248}"/>
            </c:ext>
          </c:extLst>
        </c:ser>
        <c:ser>
          <c:idx val="10"/>
          <c:order val="9"/>
          <c:tx>
            <c:strRef>
              <c:f>[1]Mid1!$S$12</c:f>
              <c:strCache>
                <c:ptCount val="1"/>
                <c:pt idx="0">
                  <c:v>90</c:v>
                </c:pt>
              </c:strCache>
            </c:strRef>
          </c:tx>
          <c:spPr>
            <a:solidFill>
              <a:schemeClr val="accent5">
                <a:lumMod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[1]Mid1!$S$13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BAA-4D94-AC35-F17EF0A35248}"/>
            </c:ext>
          </c:extLst>
        </c:ser>
        <c:ser>
          <c:idx val="11"/>
          <c:order val="10"/>
          <c:tx>
            <c:strRef>
              <c:f>[1]Mid1!$T$12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4">
                <a:lumMod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[1]Mid1!$I$13</c:f>
              <c:strCache>
                <c:ptCount val="1"/>
                <c:pt idx="0">
                  <c:v>人數</c:v>
                </c:pt>
              </c:strCache>
            </c:strRef>
          </c:cat>
          <c:val>
            <c:numRef>
              <c:f>[1]Mid1!$T$13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AA-4D94-AC35-F17EF0A352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4529744"/>
        <c:axId val="1544533072"/>
      </c:barChart>
      <c:catAx>
        <c:axId val="154452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44533072"/>
        <c:crosses val="autoZero"/>
        <c:auto val="1"/>
        <c:lblAlgn val="ctr"/>
        <c:lblOffset val="100"/>
        <c:noMultiLvlLbl val="0"/>
      </c:catAx>
      <c:valAx>
        <c:axId val="154453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44529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098785010995032E-2"/>
          <c:y val="0.87557815689705432"/>
          <c:w val="0.84560660315365965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63555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9384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448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2355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657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4916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2962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5809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760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3745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0209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5952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9114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3571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4551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5861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7164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6462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8589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931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32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0843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8041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4506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7379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11934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1715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437476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5564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08741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4C372-E967-47A2-A4BF-E27F68D5FE4C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2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19036" y="1691648"/>
            <a:ext cx="63946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dk1"/>
              </a:buClr>
              <a:buSzPts val="4800"/>
              <a:defRPr/>
            </a:pPr>
            <a:r>
              <a:rPr lang="en-US" altLang="zh-TW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C</a:t>
            </a:r>
            <a:r>
              <a:rPr lang="zh-TW" altLang="en-US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語言程式設計</a:t>
            </a:r>
            <a:r>
              <a:rPr lang="en-US" altLang="zh-TW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-</a:t>
            </a:r>
            <a:r>
              <a:rPr lang="zh-TW" altLang="en-US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期中考講解</a:t>
            </a:r>
            <a:endParaRPr lang="en-US" altLang="zh-TW" sz="4000" b="1" dirty="0">
              <a:solidFill>
                <a:schemeClr val="tx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ivvic"/>
              <a:sym typeface="Livvic"/>
            </a:endParaRPr>
          </a:p>
        </p:txBody>
      </p:sp>
      <p:sp>
        <p:nvSpPr>
          <p:cNvPr id="6" name="Google Shape;127;p24"/>
          <p:cNvSpPr/>
          <p:nvPr/>
        </p:nvSpPr>
        <p:spPr>
          <a:xfrm rot="-5400000" flipH="1">
            <a:off x="5851873" y="1851374"/>
            <a:ext cx="5144267" cy="1439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08" y="4431286"/>
            <a:ext cx="642578" cy="44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6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期中考成績分布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2704591" y="4267186"/>
            <a:ext cx="373481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期中考成績已上網大，同學可自行查閱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考差了也不要氣餒，加緊努力永遠來的及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9A29118C-9AC9-4D0D-AA1D-71D08D65540B}"/>
              </a:ext>
            </a:extLst>
          </p:cNvPr>
          <p:cNvGraphicFramePr>
            <a:graphicFrameLocks/>
          </p:cNvGraphicFramePr>
          <p:nvPr/>
        </p:nvGraphicFramePr>
        <p:xfrm>
          <a:off x="1281112" y="1007764"/>
          <a:ext cx="6581776" cy="3127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2222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91134" y="1189787"/>
            <a:ext cx="373481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ａ（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亂數出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, 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ｘ、ｙ值：－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（含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±2000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將亂數結果寫入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coordinate.txt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批改基準：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亂數結果有無缺值（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 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有無寫入指定檔案（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寫入數值有無排列整齊（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A033BD-AD18-95D7-CC72-465A6B64D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151" y="815898"/>
            <a:ext cx="4422281" cy="378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0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91134" y="1189787"/>
            <a:ext cx="38388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ｂ（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coordinate.txt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讀取數值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寫出三種排序法（泡沫、插入、選擇）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值：由大到小排序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值相等→以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值：由小到大排序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排序結果寫入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coordinate.txt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批改基準：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程式碼是否符合排序法定義（每種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排序時，有無將同組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一併更動（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有無讀取及寫入動作（每種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5C82DC3-00E4-EA3E-3C05-21D2166C3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029" y="1189787"/>
            <a:ext cx="4797543" cy="32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5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24F048-6D43-C9BE-0092-BA7CF774B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8" y="919571"/>
            <a:ext cx="4170931" cy="398377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6BAD19A-74B1-76FF-0176-A501B3E91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710" y="931854"/>
            <a:ext cx="4430772" cy="398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32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85BC3F-7F50-7E5F-5C62-85222C46E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5" y="1011042"/>
            <a:ext cx="4065901" cy="38573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57CBA86-4910-CD9D-D5BA-311CDC89E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562" y="1989220"/>
            <a:ext cx="3706838" cy="12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91134" y="1189787"/>
            <a:ext cx="38388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ｃ（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array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中找出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之最大值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計算下列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點構成的矩形面積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Xmin,Ymax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Xmax,Ymax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Xmin,Ymin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Xmax,Ymin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批改基準：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取值方式是否合理（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面積求法是否正確（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182BED-C240-6186-2C19-1AB0CBAD6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236" y="1092819"/>
            <a:ext cx="4833133" cy="334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0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01925" y="996499"/>
            <a:ext cx="38537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ｄ（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輸出一由左至右－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 </a:t>
            </a: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由上至下＋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之ＸＹ平面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Ｘ軸（５％）：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當Ｘ值可被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整除，以“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”作為刻度標示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|-------------------|-------------------|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當Ｘ為＋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時，應標示“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否則以“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”標示兩相鄰刻度間之單位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並於＋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間標上“Ｘ軸”字樣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---|-------------------|---------&gt;</a:t>
            </a: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                                  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38771A6-F0C2-32E9-A298-A518A54C793B}"/>
              </a:ext>
            </a:extLst>
          </p:cNvPr>
          <p:cNvSpPr txBox="1"/>
          <p:nvPr/>
        </p:nvSpPr>
        <p:spPr>
          <a:xfrm>
            <a:off x="2415659" y="2646090"/>
            <a:ext cx="1281120" cy="30777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中間有</a:t>
            </a:r>
            <a:r>
              <a:rPr lang="en-US" altLang="zh-TW" dirty="0"/>
              <a:t>99</a:t>
            </a:r>
            <a:r>
              <a:rPr lang="zh-TW" altLang="en-US" dirty="0"/>
              <a:t>個點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658F85F-8605-7EFC-502B-ACC9803D7236}"/>
              </a:ext>
            </a:extLst>
          </p:cNvPr>
          <p:cNvSpPr txBox="1"/>
          <p:nvPr/>
        </p:nvSpPr>
        <p:spPr>
          <a:xfrm>
            <a:off x="867373" y="2646091"/>
            <a:ext cx="1281120" cy="30777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中間有</a:t>
            </a:r>
            <a:r>
              <a:rPr lang="en-US" altLang="zh-TW" dirty="0"/>
              <a:t>99</a:t>
            </a:r>
            <a:r>
              <a:rPr lang="zh-TW" altLang="en-US" dirty="0"/>
              <a:t>個點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E757DA-C0DC-0909-C8D5-6D10ADAD9F55}"/>
              </a:ext>
            </a:extLst>
          </p:cNvPr>
          <p:cNvSpPr txBox="1"/>
          <p:nvPr/>
        </p:nvSpPr>
        <p:spPr>
          <a:xfrm>
            <a:off x="4559082" y="1665573"/>
            <a:ext cx="42829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Ｘ軸上數值（５％）：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每個Ｘ軸之刻度，應於上方標示其數值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</a:t>
            </a: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---|-------------------|---------&gt;</a:t>
            </a: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                                  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Ｘ值為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時，則標於原點左上方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---|-------------------0-------------------|---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658508-E0BB-CD8F-A01A-F57B2F91E1D1}"/>
              </a:ext>
            </a:extLst>
          </p:cNvPr>
          <p:cNvSpPr txBox="1"/>
          <p:nvPr/>
        </p:nvSpPr>
        <p:spPr>
          <a:xfrm>
            <a:off x="6575307" y="4065063"/>
            <a:ext cx="258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D16117C-FE5D-585F-A9C2-F965BE63B066}"/>
              </a:ext>
            </a:extLst>
          </p:cNvPr>
          <p:cNvSpPr txBox="1"/>
          <p:nvPr/>
        </p:nvSpPr>
        <p:spPr>
          <a:xfrm>
            <a:off x="6704335" y="4018450"/>
            <a:ext cx="2024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3F2A6D-B468-DD76-2DFB-561F1082B48B}"/>
              </a:ext>
            </a:extLst>
          </p:cNvPr>
          <p:cNvSpPr txBox="1"/>
          <p:nvPr/>
        </p:nvSpPr>
        <p:spPr>
          <a:xfrm>
            <a:off x="6704335" y="4419453"/>
            <a:ext cx="2024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123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01925" y="877553"/>
            <a:ext cx="40024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Ｙ軸＋軸上數值（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當Ｙ值可被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整除，以“Ｙ值”作為刻度標示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38771A6-F0C2-32E9-A298-A518A54C793B}"/>
              </a:ext>
            </a:extLst>
          </p:cNvPr>
          <p:cNvSpPr txBox="1"/>
          <p:nvPr/>
        </p:nvSpPr>
        <p:spPr>
          <a:xfrm>
            <a:off x="1414618" y="2278546"/>
            <a:ext cx="383438" cy="13849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中</a:t>
            </a:r>
            <a:endParaRPr lang="en-US" altLang="zh-TW" dirty="0"/>
          </a:p>
          <a:p>
            <a:r>
              <a:rPr lang="zh-TW" altLang="en-US" dirty="0"/>
              <a:t>間</a:t>
            </a:r>
            <a:endParaRPr lang="en-US" altLang="zh-TW" dirty="0"/>
          </a:p>
          <a:p>
            <a:r>
              <a:rPr lang="zh-TW" altLang="en-US" dirty="0"/>
              <a:t>有</a:t>
            </a:r>
            <a:endParaRPr lang="en-US" altLang="zh-TW" dirty="0"/>
          </a:p>
          <a:p>
            <a:r>
              <a:rPr lang="en-US" altLang="zh-TW" dirty="0"/>
              <a:t>99</a:t>
            </a:r>
          </a:p>
          <a:p>
            <a:r>
              <a:rPr lang="zh-TW" altLang="en-US" dirty="0"/>
              <a:t>個</a:t>
            </a:r>
            <a:endParaRPr lang="en-US" altLang="zh-TW" dirty="0"/>
          </a:p>
          <a:p>
            <a:r>
              <a:rPr lang="zh-TW" altLang="en-US" dirty="0"/>
              <a:t>點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E757DA-C0DC-0909-C8D5-6D10ADAD9F55}"/>
              </a:ext>
            </a:extLst>
          </p:cNvPr>
          <p:cNvSpPr txBox="1"/>
          <p:nvPr/>
        </p:nvSpPr>
        <p:spPr>
          <a:xfrm>
            <a:off x="4704889" y="877553"/>
            <a:ext cx="42829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當Ｙ為＋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時，應標示“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^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否則以“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”標示兩相鄰刻度間之單位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並於－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間標上“Ｙ軸”字樣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　　　　　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2B58869-327D-F82B-32D8-F86D28C82321}"/>
              </a:ext>
            </a:extLst>
          </p:cNvPr>
          <p:cNvSpPr txBox="1"/>
          <p:nvPr/>
        </p:nvSpPr>
        <p:spPr>
          <a:xfrm>
            <a:off x="1521613" y="1592816"/>
            <a:ext cx="10615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100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  <a:br>
              <a:rPr lang="en-US" altLang="zh-TW" dirty="0"/>
            </a:br>
            <a:r>
              <a:rPr lang="en-US" altLang="zh-TW" dirty="0"/>
              <a:t>0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8DC7CE9-F146-68DB-64FD-AA460E662C76}"/>
              </a:ext>
            </a:extLst>
          </p:cNvPr>
          <p:cNvSpPr txBox="1"/>
          <p:nvPr/>
        </p:nvSpPr>
        <p:spPr>
          <a:xfrm>
            <a:off x="4902853" y="1592816"/>
            <a:ext cx="10615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^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  <a:br>
              <a:rPr lang="en-US" altLang="zh-TW" dirty="0"/>
            </a:br>
            <a:r>
              <a:rPr lang="en-US" altLang="zh-TW" dirty="0"/>
              <a:t>2000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  <a:br>
              <a:rPr lang="en-US" altLang="zh-TW" dirty="0"/>
            </a:br>
            <a:r>
              <a:rPr lang="en-US" altLang="zh-TW" dirty="0"/>
              <a:t>1900</a:t>
            </a:r>
            <a:endParaRPr lang="zh-TW" altLang="en-US" dirty="0"/>
          </a:p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C77C1E3-BD4F-04C1-7A0A-9C168E08030F}"/>
              </a:ext>
            </a:extLst>
          </p:cNvPr>
          <p:cNvSpPr txBox="1"/>
          <p:nvPr/>
        </p:nvSpPr>
        <p:spPr>
          <a:xfrm>
            <a:off x="7016410" y="1587291"/>
            <a:ext cx="10615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-1900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-2000</a:t>
            </a:r>
            <a:br>
              <a:rPr lang="en-US" altLang="zh-TW" dirty="0"/>
            </a:br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</a:p>
          <a:p>
            <a:pPr algn="ctr"/>
            <a:r>
              <a:rPr lang="en-US" altLang="zh-TW" dirty="0"/>
              <a:t>|</a:t>
            </a:r>
            <a:r>
              <a:rPr lang="zh-TW" altLang="en-US" dirty="0"/>
              <a:t>　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9E8D2FF-6836-FB89-7D17-761D6F76086A}"/>
              </a:ext>
            </a:extLst>
          </p:cNvPr>
          <p:cNvSpPr txBox="1"/>
          <p:nvPr/>
        </p:nvSpPr>
        <p:spPr>
          <a:xfrm>
            <a:off x="7664605" y="4780156"/>
            <a:ext cx="520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</a:t>
            </a:r>
            <a:r>
              <a:rPr lang="zh-TW" altLang="en-US" dirty="0"/>
              <a:t>軸</a:t>
            </a:r>
          </a:p>
        </p:txBody>
      </p:sp>
    </p:spTree>
    <p:extLst>
      <p:ext uri="{BB962C8B-B14F-4D97-AF65-F5344CB8AC3E}">
        <p14:creationId xmlns:p14="http://schemas.microsoft.com/office/powerpoint/2010/main" val="128903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01925" y="1033670"/>
            <a:ext cx="48425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由（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Xmin,Ymax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Xmax,Ymax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 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Xmin,Ymin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）、（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Xmax,Ymin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）構成之矩形（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小題取得之４點座標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橫向以“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”、縱向以“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”標示兩點間之單位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22E016-C73D-7C14-FEEF-0C3DC98B37A1}"/>
              </a:ext>
            </a:extLst>
          </p:cNvPr>
          <p:cNvSpPr txBox="1"/>
          <p:nvPr/>
        </p:nvSpPr>
        <p:spPr>
          <a:xfrm>
            <a:off x="1330714" y="2304120"/>
            <a:ext cx="19626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|-------------------|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|-------------------|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4D657C6-FA26-0D60-A24B-F944D2D939F4}"/>
              </a:ext>
            </a:extLst>
          </p:cNvPr>
          <p:cNvSpPr txBox="1"/>
          <p:nvPr/>
        </p:nvSpPr>
        <p:spPr>
          <a:xfrm>
            <a:off x="2862146" y="2519563"/>
            <a:ext cx="2527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9B781D-9D4E-42B4-4104-64B7A1C3394A}"/>
              </a:ext>
            </a:extLst>
          </p:cNvPr>
          <p:cNvSpPr txBox="1"/>
          <p:nvPr/>
        </p:nvSpPr>
        <p:spPr>
          <a:xfrm>
            <a:off x="5147080" y="1701837"/>
            <a:ext cx="31478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若Ｘ之最大值、最小值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及Ｙ之最大值、最小值皆為一正一負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則矩形應跨越Ｘ、Ｙ軸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8B1BEF9-57ED-36FE-BD99-33461ECC74C5}"/>
              </a:ext>
            </a:extLst>
          </p:cNvPr>
          <p:cNvSpPr txBox="1"/>
          <p:nvPr/>
        </p:nvSpPr>
        <p:spPr>
          <a:xfrm>
            <a:off x="5842177" y="2972287"/>
            <a:ext cx="19626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|-------------------|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|-------------------|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253C1B8-D578-1A8B-29B3-0DBC3B7D853D}"/>
              </a:ext>
            </a:extLst>
          </p:cNvPr>
          <p:cNvSpPr txBox="1"/>
          <p:nvPr/>
        </p:nvSpPr>
        <p:spPr>
          <a:xfrm>
            <a:off x="7373608" y="3187730"/>
            <a:ext cx="4522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</a:t>
            </a:r>
            <a:endParaRPr lang="en-US" altLang="zh-TW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92301F8-462E-122E-98AE-47CE3E8BF22E}"/>
              </a:ext>
            </a:extLst>
          </p:cNvPr>
          <p:cNvSpPr txBox="1"/>
          <p:nvPr/>
        </p:nvSpPr>
        <p:spPr>
          <a:xfrm>
            <a:off x="5495923" y="3729475"/>
            <a:ext cx="279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-----------------------------&gt;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2ACB81D-D974-5001-D4FE-3614D1E54036}"/>
              </a:ext>
            </a:extLst>
          </p:cNvPr>
          <p:cNvSpPr txBox="1"/>
          <p:nvPr/>
        </p:nvSpPr>
        <p:spPr>
          <a:xfrm rot="16200000">
            <a:off x="5321502" y="3575587"/>
            <a:ext cx="279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-----------------------------&gt;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865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40D5C3-C45F-4FE9-170F-B10A6C38520D}"/>
              </a:ext>
            </a:extLst>
          </p:cNvPr>
          <p:cNvSpPr txBox="1"/>
          <p:nvPr/>
        </p:nvSpPr>
        <p:spPr>
          <a:xfrm>
            <a:off x="301925" y="1033670"/>
            <a:ext cx="48425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畫點（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將ａ小題生成的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個點＋ｃ小題的４個點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以“*”標示出來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e.g.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22E016-C73D-7C14-FEEF-0C3DC98B37A1}"/>
              </a:ext>
            </a:extLst>
          </p:cNvPr>
          <p:cNvSpPr txBox="1"/>
          <p:nvPr/>
        </p:nvSpPr>
        <p:spPr>
          <a:xfrm>
            <a:off x="1330714" y="2304120"/>
            <a:ext cx="19626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-------------------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endParaRPr lang="en-US" altLang="zh-TW" dirty="0"/>
          </a:p>
          <a:p>
            <a:r>
              <a:rPr lang="zh-TW" altLang="en-US" dirty="0"/>
              <a:t>                             </a:t>
            </a:r>
            <a:endParaRPr lang="en-US" altLang="zh-TW" dirty="0"/>
          </a:p>
          <a:p>
            <a:r>
              <a:rPr lang="zh-TW" altLang="en-US" dirty="0"/>
              <a:t>                             </a:t>
            </a:r>
            <a:endParaRPr lang="en-US" altLang="zh-TW" dirty="0"/>
          </a:p>
          <a:p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zh-TW" altLang="en-US" dirty="0"/>
              <a:t>                            </a:t>
            </a:r>
            <a:endParaRPr lang="en-US" altLang="zh-TW" dirty="0"/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-------------------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4D657C6-FA26-0D60-A24B-F944D2D939F4}"/>
              </a:ext>
            </a:extLst>
          </p:cNvPr>
          <p:cNvSpPr txBox="1"/>
          <p:nvPr/>
        </p:nvSpPr>
        <p:spPr>
          <a:xfrm>
            <a:off x="2909860" y="2482392"/>
            <a:ext cx="2527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</a:t>
            </a:r>
            <a:endParaRPr lang="en-US" altLang="zh-TW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92301F8-462E-122E-98AE-47CE3E8BF22E}"/>
              </a:ext>
            </a:extLst>
          </p:cNvPr>
          <p:cNvSpPr txBox="1"/>
          <p:nvPr/>
        </p:nvSpPr>
        <p:spPr>
          <a:xfrm>
            <a:off x="918119" y="2823644"/>
            <a:ext cx="279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-----------------------------&gt;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2ACB81D-D974-5001-D4FE-3614D1E54036}"/>
              </a:ext>
            </a:extLst>
          </p:cNvPr>
          <p:cNvSpPr txBox="1"/>
          <p:nvPr/>
        </p:nvSpPr>
        <p:spPr>
          <a:xfrm rot="16200000">
            <a:off x="856966" y="3082093"/>
            <a:ext cx="279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-----------------------------&gt;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A995289-D152-E588-1B03-3A074B18929D}"/>
              </a:ext>
            </a:extLst>
          </p:cNvPr>
          <p:cNvSpPr txBox="1"/>
          <p:nvPr/>
        </p:nvSpPr>
        <p:spPr>
          <a:xfrm>
            <a:off x="1350853" y="2467524"/>
            <a:ext cx="2527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              </a:t>
            </a:r>
            <a:endParaRPr lang="en-US" altLang="zh-TW" dirty="0"/>
          </a:p>
          <a:p>
            <a:r>
              <a:rPr lang="en-US" altLang="zh-TW" dirty="0"/>
              <a:t>|</a:t>
            </a:r>
            <a:r>
              <a:rPr lang="zh-TW" altLang="en-US" dirty="0"/>
              <a:t>      </a:t>
            </a:r>
            <a:endParaRPr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13730D1-C424-176E-BE01-E64147D14E63}"/>
              </a:ext>
            </a:extLst>
          </p:cNvPr>
          <p:cNvSpPr txBox="1"/>
          <p:nvPr/>
        </p:nvSpPr>
        <p:spPr>
          <a:xfrm>
            <a:off x="2031078" y="2462978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A57E139-E009-7C1E-46AA-BEC3B37AB4BD}"/>
              </a:ext>
            </a:extLst>
          </p:cNvPr>
          <p:cNvSpPr txBox="1"/>
          <p:nvPr/>
        </p:nvSpPr>
        <p:spPr>
          <a:xfrm>
            <a:off x="1684020" y="3189095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C5A8027-91CA-0049-2C5C-62F3D1F0C6E1}"/>
              </a:ext>
            </a:extLst>
          </p:cNvPr>
          <p:cNvSpPr txBox="1"/>
          <p:nvPr/>
        </p:nvSpPr>
        <p:spPr>
          <a:xfrm>
            <a:off x="2267867" y="3469337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BF0BE-40A4-D5F3-D481-9191CCEE0459}"/>
              </a:ext>
            </a:extLst>
          </p:cNvPr>
          <p:cNvSpPr txBox="1"/>
          <p:nvPr/>
        </p:nvSpPr>
        <p:spPr>
          <a:xfrm>
            <a:off x="2286276" y="2989898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6B810A-577D-C31F-08C3-3B6C8FD76C35}"/>
              </a:ext>
            </a:extLst>
          </p:cNvPr>
          <p:cNvSpPr txBox="1"/>
          <p:nvPr/>
        </p:nvSpPr>
        <p:spPr>
          <a:xfrm>
            <a:off x="4980877" y="1034475"/>
            <a:ext cx="48425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原題之繪製示意圖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62F80E7-8E37-76FD-44EE-28DBCFF8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877" y="1504393"/>
            <a:ext cx="3586143" cy="336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5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C2B8128-B142-E5B2-E21C-129126FD869B}"/>
              </a:ext>
            </a:extLst>
          </p:cNvPr>
          <p:cNvSpPr txBox="1"/>
          <p:nvPr/>
        </p:nvSpPr>
        <p:spPr>
          <a:xfrm>
            <a:off x="301925" y="996499"/>
            <a:ext cx="4270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前情提要－變數宣告位置的差別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助教助教，我想宣告一個大陣列拿來畫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平面，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我編譯也過了，但為什麼一執行就直接當掉？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980107F-6AFA-B560-ED20-E8A08D8A7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19" y="3891859"/>
            <a:ext cx="3574073" cy="7778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9B3AC43-4134-E396-5376-9740F78AB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915" y="2582553"/>
            <a:ext cx="2294931" cy="102966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1C83A50-028D-F1B0-315A-194AE7374BA7}"/>
              </a:ext>
            </a:extLst>
          </p:cNvPr>
          <p:cNvSpPr txBox="1"/>
          <p:nvPr/>
        </p:nvSpPr>
        <p:spPr>
          <a:xfrm>
            <a:off x="301925" y="2112691"/>
            <a:ext cx="413286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/>
              <a:t>以本題來說，多半是同學</a:t>
            </a:r>
            <a:r>
              <a:rPr lang="zh-TW" altLang="en-US" b="1" dirty="0">
                <a:solidFill>
                  <a:srgbClr val="FF0000"/>
                </a:solidFill>
              </a:rPr>
              <a:t>將該陣列宣告於</a:t>
            </a:r>
            <a:r>
              <a:rPr lang="en-US" altLang="zh-TW" b="1" dirty="0">
                <a:solidFill>
                  <a:srgbClr val="FF0000"/>
                </a:solidFill>
              </a:rPr>
              <a:t>main()</a:t>
            </a:r>
            <a:r>
              <a:rPr lang="zh-TW" altLang="en-US" b="1" dirty="0">
                <a:solidFill>
                  <a:srgbClr val="FF0000"/>
                </a:solidFill>
              </a:rPr>
              <a:t>內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AE231F5-5850-0BF5-6C10-5FD937CD5331}"/>
              </a:ext>
            </a:extLst>
          </p:cNvPr>
          <p:cNvSpPr txBox="1"/>
          <p:nvPr/>
        </p:nvSpPr>
        <p:spPr>
          <a:xfrm>
            <a:off x="1405860" y="2862194"/>
            <a:ext cx="1976675" cy="213636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C37698A-95E6-46B3-7ED5-BCF4CC408735}"/>
              </a:ext>
            </a:extLst>
          </p:cNvPr>
          <p:cNvSpPr txBox="1"/>
          <p:nvPr/>
        </p:nvSpPr>
        <p:spPr>
          <a:xfrm>
            <a:off x="5192355" y="996499"/>
            <a:ext cx="2957861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tx1"/>
                </a:solidFill>
              </a:rPr>
              <a:t>當我們於</a:t>
            </a:r>
            <a:r>
              <a:rPr lang="en-US" altLang="zh-TW" b="1" dirty="0">
                <a:solidFill>
                  <a:schemeClr val="tx1"/>
                </a:solidFill>
              </a:rPr>
              <a:t>main()</a:t>
            </a:r>
            <a:r>
              <a:rPr lang="zh-TW" altLang="en-US" b="1" dirty="0">
                <a:solidFill>
                  <a:schemeClr val="tx1"/>
                </a:solidFill>
              </a:rPr>
              <a:t>內宣告一個變數時</a:t>
            </a:r>
            <a:endParaRPr lang="en-US" altLang="zh-TW" b="1" dirty="0">
              <a:solidFill>
                <a:schemeClr val="tx1"/>
              </a:solidFill>
            </a:endParaRPr>
          </a:p>
          <a:p>
            <a:r>
              <a:rPr lang="zh-TW" altLang="en-US" b="1" dirty="0">
                <a:solidFill>
                  <a:schemeClr val="tx1"/>
                </a:solidFill>
              </a:rPr>
              <a:t>會將變數存於</a:t>
            </a:r>
            <a:r>
              <a:rPr lang="en-US" altLang="zh-TW" b="1" dirty="0">
                <a:solidFill>
                  <a:schemeClr val="tx1"/>
                </a:solidFill>
              </a:rPr>
              <a:t>OS</a:t>
            </a:r>
            <a:r>
              <a:rPr lang="zh-TW" altLang="en-US" b="1" dirty="0">
                <a:solidFill>
                  <a:schemeClr val="tx1"/>
                </a:solidFill>
              </a:rPr>
              <a:t>預設的暫存空間內</a:t>
            </a:r>
            <a:endParaRPr lang="en-US" altLang="zh-TW" b="1" dirty="0">
              <a:solidFill>
                <a:schemeClr val="tx1"/>
              </a:solidFill>
            </a:endParaRPr>
          </a:p>
          <a:p>
            <a:r>
              <a:rPr lang="zh-TW" altLang="en-US" b="1" dirty="0">
                <a:solidFill>
                  <a:schemeClr val="tx1"/>
                </a:solidFill>
              </a:rPr>
              <a:t>→</a:t>
            </a:r>
            <a:r>
              <a:rPr lang="zh-TW" altLang="en-US" b="1" dirty="0">
                <a:solidFill>
                  <a:srgbClr val="FF0000"/>
                </a:solidFill>
              </a:rPr>
              <a:t>當暫存滿了，程式就會當掉</a:t>
            </a:r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那麼該怎麼辦？</a:t>
            </a:r>
            <a:endParaRPr lang="en-US" altLang="zh-TW" b="1" dirty="0">
              <a:solidFill>
                <a:schemeClr val="tx1"/>
              </a:solidFill>
            </a:endParaRPr>
          </a:p>
          <a:p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3CBDB1-9347-879A-7DE2-C1FE41F9DE45}"/>
              </a:ext>
            </a:extLst>
          </p:cNvPr>
          <p:cNvSpPr txBox="1"/>
          <p:nvPr/>
        </p:nvSpPr>
        <p:spPr>
          <a:xfrm>
            <a:off x="5435630" y="2112691"/>
            <a:ext cx="233749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將該陣列宣告於</a:t>
            </a:r>
            <a:r>
              <a:rPr lang="en-US" altLang="zh-TW" b="1" dirty="0">
                <a:solidFill>
                  <a:srgbClr val="FF0000"/>
                </a:solidFill>
              </a:rPr>
              <a:t>main()</a:t>
            </a:r>
            <a:r>
              <a:rPr lang="zh-TW" altLang="en-US" b="1" dirty="0">
                <a:solidFill>
                  <a:srgbClr val="FF0000"/>
                </a:solidFill>
              </a:rPr>
              <a:t>上方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5F8229D-B2DA-CCEB-3529-4488A20E7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696" y="2582553"/>
            <a:ext cx="1775178" cy="11203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3C62355E-F02B-18C2-9DA5-FAD797F8F661}"/>
              </a:ext>
            </a:extLst>
          </p:cNvPr>
          <p:cNvSpPr txBox="1"/>
          <p:nvPr/>
        </p:nvSpPr>
        <p:spPr>
          <a:xfrm>
            <a:off x="5322197" y="3895659"/>
            <a:ext cx="2698175" cy="9541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tx1"/>
                </a:solidFill>
              </a:rPr>
              <a:t>當改成於</a:t>
            </a:r>
            <a:r>
              <a:rPr lang="en-US" altLang="zh-TW" b="1" dirty="0">
                <a:solidFill>
                  <a:schemeClr val="tx1"/>
                </a:solidFill>
              </a:rPr>
              <a:t>main()</a:t>
            </a:r>
            <a:r>
              <a:rPr lang="zh-TW" altLang="en-US" b="1" dirty="0">
                <a:solidFill>
                  <a:schemeClr val="tx1"/>
                </a:solidFill>
              </a:rPr>
              <a:t>上方宣告變數時</a:t>
            </a:r>
            <a:endParaRPr lang="en-US" altLang="zh-TW" b="1" dirty="0">
              <a:solidFill>
                <a:schemeClr val="tx1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變數將被存於固定的記憶體位置</a:t>
            </a:r>
            <a:endParaRPr lang="en-US" altLang="zh-TW" b="1" dirty="0">
              <a:solidFill>
                <a:srgbClr val="FF0000"/>
              </a:solidFill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就能夠解決程式崩潰的問題</a:t>
            </a:r>
            <a:endParaRPr lang="en-US" altLang="zh-TW" b="1" dirty="0">
              <a:solidFill>
                <a:schemeClr val="tx1"/>
              </a:solidFill>
            </a:endParaRPr>
          </a:p>
          <a:p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467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C2B8128-B142-E5B2-E21C-129126FD869B}"/>
              </a:ext>
            </a:extLst>
          </p:cNvPr>
          <p:cNvSpPr txBox="1"/>
          <p:nvPr/>
        </p:nvSpPr>
        <p:spPr>
          <a:xfrm>
            <a:off x="301925" y="996499"/>
            <a:ext cx="42700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ｄ（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40%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輸出一由左至右－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 </a:t>
            </a: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由上至下＋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2050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之ＸＹ平面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批改基準：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Ｘ軸是否按指定格式，將指定範圍畫出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Ｘ軸上之數值有無按要求明確標示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Ｙ軸是否按指定格式，將指定範圍畫出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Ｙ軸上之數值有無按要求明確標示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是否按Ｘ、Ｙ之最大值＆最小值畫出矩形的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有無按要求將亂數生成的點，繪製於矩形內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B28B7EAF-8E72-9732-963F-5883AD7D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110" y="815898"/>
            <a:ext cx="3385109" cy="414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6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EDB92D4-5456-B6C8-3C5C-C02B6496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8" y="931854"/>
            <a:ext cx="3726157" cy="382618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960184C-A608-5E48-B110-174257307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501" y="1018734"/>
            <a:ext cx="4552105" cy="382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2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期中考講解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A34CE0F-F46C-C9CB-538F-55DAC6620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98" y="931854"/>
            <a:ext cx="3828387" cy="382838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7AF08D4-BC2A-DCD0-ACAA-C38B34697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60" y="1561171"/>
            <a:ext cx="4301642" cy="236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40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作業五</a:t>
            </a: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66CB34-E8EF-27F5-1719-F53D502E2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75" y="1079901"/>
            <a:ext cx="4468919" cy="371841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EDB168B-AFE6-BE49-B94A-38B24944D205}"/>
              </a:ext>
            </a:extLst>
          </p:cNvPr>
          <p:cNvSpPr txBox="1"/>
          <p:nvPr/>
        </p:nvSpPr>
        <p:spPr>
          <a:xfrm>
            <a:off x="377424" y="71057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/>
              <a:t>5-1</a:t>
            </a:r>
            <a:endParaRPr lang="zh-TW" altLang="en-US" sz="1800" b="1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AC8CE3C-9386-3A76-C75E-D2CC7EBE2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43" y="944144"/>
            <a:ext cx="4113645" cy="385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06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作業五</a:t>
            </a: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B280D41-D56D-F84D-55F3-5981BA8D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22" y="722425"/>
            <a:ext cx="4002749" cy="421164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B0EE4BC-138C-0867-F9AB-7284791D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131" y="634850"/>
            <a:ext cx="2950446" cy="429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3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作業五</a:t>
            </a: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EDB168B-AFE6-BE49-B94A-38B24944D205}"/>
              </a:ext>
            </a:extLst>
          </p:cNvPr>
          <p:cNvSpPr txBox="1"/>
          <p:nvPr/>
        </p:nvSpPr>
        <p:spPr>
          <a:xfrm>
            <a:off x="383701" y="74718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/>
              <a:t>5-2</a:t>
            </a:r>
            <a:endParaRPr lang="zh-TW" altLang="en-US" sz="18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B4E7AB0-7129-EA0F-DBA0-9CAE94455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766" y="1419920"/>
            <a:ext cx="4472429" cy="285048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B8E1CE-E44B-8292-6D9B-573F4C0E4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70" y="1141283"/>
            <a:ext cx="3691334" cy="376972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1917A15-F009-D487-D660-248C87547351}"/>
              </a:ext>
            </a:extLst>
          </p:cNvPr>
          <p:cNvSpPr txBox="1"/>
          <p:nvPr/>
        </p:nvSpPr>
        <p:spPr>
          <a:xfrm>
            <a:off x="4655352" y="987394"/>
            <a:ext cx="39276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於</a:t>
            </a:r>
            <a:r>
              <a:rPr lang="en-US" altLang="zh-TW" dirty="0" err="1"/>
              <a:t>Dosbox</a:t>
            </a:r>
            <a:r>
              <a:rPr lang="zh-TW" altLang="en-US" dirty="0"/>
              <a:t>中，橫向兩個“</a:t>
            </a:r>
            <a:r>
              <a:rPr lang="en-US" altLang="zh-TW" dirty="0"/>
              <a:t>-</a:t>
            </a:r>
            <a:r>
              <a:rPr lang="zh-TW" altLang="en-US" dirty="0"/>
              <a:t>”與縱向</a:t>
            </a:r>
            <a:r>
              <a:rPr lang="en-US" altLang="zh-TW" dirty="0"/>
              <a:t>1</a:t>
            </a:r>
            <a:r>
              <a:rPr lang="zh-TW" altLang="en-US" dirty="0"/>
              <a:t>個“</a:t>
            </a:r>
            <a:r>
              <a:rPr lang="en-US" altLang="zh-TW" dirty="0"/>
              <a:t>|</a:t>
            </a:r>
            <a:r>
              <a:rPr lang="zh-TW" altLang="en-US" dirty="0"/>
              <a:t>”長度相等</a:t>
            </a:r>
          </a:p>
        </p:txBody>
      </p:sp>
    </p:spTree>
    <p:extLst>
      <p:ext uri="{BB962C8B-B14F-4D97-AF65-F5344CB8AC3E}">
        <p14:creationId xmlns:p14="http://schemas.microsoft.com/office/powerpoint/2010/main" val="1431121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作業五</a:t>
            </a: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B5FA1E6-2750-4AB3-427A-99ED4BF57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899" y="722425"/>
            <a:ext cx="3992137" cy="43253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955742C-A72D-AC63-29C4-9AAB7932D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95" y="722425"/>
            <a:ext cx="3633089" cy="439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15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作業五</a:t>
            </a: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068D3C0-2A09-DA59-E58E-03CD0CCB0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10" y="1137424"/>
            <a:ext cx="3897958" cy="352901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0BFC605-E193-D370-611A-CB12F28B5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2" y="733542"/>
            <a:ext cx="3316044" cy="434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51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作業六</a:t>
            </a:r>
            <a:r>
              <a:rPr lang="zh-TW" altLang="en-US" sz="3200" b="1" spc="-6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2270AB9-FB1B-A414-C6E9-F0ED8825E4B6}"/>
              </a:ext>
            </a:extLst>
          </p:cNvPr>
          <p:cNvSpPr txBox="1"/>
          <p:nvPr/>
        </p:nvSpPr>
        <p:spPr>
          <a:xfrm>
            <a:off x="5280693" y="931854"/>
            <a:ext cx="401128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概念基本與作業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第一點假設前一點為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求斜率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值的最大與最小值可由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x=-30~+30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代入方程式後自行求得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範例圖上的進位是使用，最接近整數原則，當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捨入到最接近的偶數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若是沒有進位畫不了圖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CE295C-4E14-A66B-80B5-5D171E6B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119"/>
            <a:ext cx="5349704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68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作業六講解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C2270AB9-FB1B-A414-C6E9-F0ED8825E4B6}"/>
                  </a:ext>
                </a:extLst>
              </p:cNvPr>
              <p:cNvSpPr txBox="1"/>
              <p:nvPr/>
            </p:nvSpPr>
            <p:spPr>
              <a:xfrm>
                <a:off x="5280693" y="931854"/>
                <a:ext cx="4011283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TW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rPr>
                  <a:t>因為進位的關係，直線可能有一節一節的情形，這是正常的</a:t>
                </a:r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TW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rPr>
                  <a:t>方程式可由 </a:t>
                </a:r>
                <a14:m>
                  <m:oMath xmlns:m="http://schemas.openxmlformats.org/officeDocument/2006/math">
                    <m:r>
                      <a:rPr kumimoji="0" lang="en-US" altLang="zh-TW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軟正黑體" panose="020B0604030504040204" pitchFamily="34" charset="-120"/>
                        <a:cs typeface="Arial"/>
                        <a:sym typeface="Arial"/>
                      </a:rPr>
                      <m:t>𝒚</m:t>
                    </m:r>
                    <m:r>
                      <a:rPr kumimoji="0" lang="en-US" altLang="zh-TW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軟正黑體" panose="020B0604030504040204" pitchFamily="34" charset="-120"/>
                        <a:cs typeface="Arial"/>
                        <a:sym typeface="Arial"/>
                      </a:rPr>
                      <m:t>=</m:t>
                    </m:r>
                    <m:r>
                      <a:rPr kumimoji="0" lang="en-US" altLang="zh-TW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軟正黑體" panose="020B0604030504040204" pitchFamily="34" charset="-120"/>
                        <a:cs typeface="Arial"/>
                        <a:sym typeface="Arial"/>
                      </a:rPr>
                      <m:t>𝒂𝒙</m:t>
                    </m:r>
                    <m:r>
                      <a:rPr kumimoji="0" lang="en-US" altLang="zh-TW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軟正黑體" panose="020B0604030504040204" pitchFamily="34" charset="-120"/>
                        <a:cs typeface="Arial"/>
                        <a:sym typeface="Arial"/>
                      </a:rPr>
                      <m:t>+</m:t>
                    </m:r>
                    <m:r>
                      <a:rPr kumimoji="0" lang="en-US" altLang="zh-TW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軟正黑體" panose="020B0604030504040204" pitchFamily="34" charset="-120"/>
                        <a:cs typeface="Arial"/>
                        <a:sym typeface="Arial"/>
                      </a:rPr>
                      <m:t>𝒃</m:t>
                    </m:r>
                  </m:oMath>
                </a14:m>
                <a:r>
                  <a:rPr kumimoji="0" lang="en-US" altLang="zh-TW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rPr>
                  <a:t> </a:t>
                </a:r>
                <a:r>
                  <a:rPr kumimoji="0" lang="zh-TW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rPr>
                  <a:t>代入兩點後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，得到</a:t>
                </a:r>
                <a:r>
                  <a:rPr lang="en-US" altLang="zh-TW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a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與</a:t>
                </a:r>
                <a:r>
                  <a:rPr lang="en-US" altLang="zh-TW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，即可畫直線</a:t>
                </a:r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C2270AB9-FB1B-A414-C6E9-F0ED8825E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693" y="931854"/>
                <a:ext cx="4011283" cy="1815882"/>
              </a:xfrm>
              <a:prstGeom prst="rect">
                <a:avLst/>
              </a:prstGeom>
              <a:blipFill>
                <a:blip r:embed="rId2"/>
                <a:stretch>
                  <a:fillRect l="-152" t="-10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43A4855D-CC88-7237-8AB4-6CDA1DDCC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13" y="1047810"/>
            <a:ext cx="5157259" cy="138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21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作業六講解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0A7CFB-FB5B-7901-DC5C-81A6024FB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09" y="1047810"/>
            <a:ext cx="5220152" cy="217950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BB38FD7-5071-EFD6-58C1-6F645647C306}"/>
              </a:ext>
            </a:extLst>
          </p:cNvPr>
          <p:cNvSpPr txBox="1"/>
          <p:nvPr/>
        </p:nvSpPr>
        <p:spPr>
          <a:xfrm>
            <a:off x="5132717" y="980550"/>
            <a:ext cx="4011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注意中的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值更改是為了方便印製每一輪趨近的結果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而趨近方式中，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|x2-x1|/2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表示的是兩者間的距離每次趨近都會變成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而極限斜率與截距則是當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|x2-x1|&lt;0.1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的時候，兩點計算斜率並透過斜截式算出截距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3859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作業六講解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B38FD7-5071-EFD6-58C1-6F645647C306}"/>
              </a:ext>
            </a:extLst>
          </p:cNvPr>
          <p:cNvSpPr txBox="1"/>
          <p:nvPr/>
        </p:nvSpPr>
        <p:spPr>
          <a:xfrm>
            <a:off x="5132717" y="980550"/>
            <a:ext cx="40112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有了方程式該有的參數後即可在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x1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處畫出切線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645B9B5-06F7-418D-3448-A3A70E6F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4" y="1096506"/>
            <a:ext cx="4923116" cy="32271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D6ECB21-8E62-C47B-8517-E6B321CC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24" y="2093295"/>
            <a:ext cx="5265876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80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作業八簡述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9FBDECC-6A07-2537-E484-505E8585B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" y="931854"/>
            <a:ext cx="5524979" cy="299492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BD57D2F-F1E4-5AFD-9BC0-277048058D05}"/>
              </a:ext>
            </a:extLst>
          </p:cNvPr>
          <p:cNvSpPr txBox="1"/>
          <p:nvPr/>
        </p:nvSpPr>
        <p:spPr>
          <a:xfrm>
            <a:off x="5996197" y="1208693"/>
            <a:ext cx="29580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下方提到的每個功能皆需要用函式的方式撰寫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讀寫檔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記得用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rb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wb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寫入檔案格式請與附檔格式相同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1145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作業八簡述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65FD28-0AAD-CC46-C938-38F637B7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5" y="1046147"/>
            <a:ext cx="3932261" cy="381033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301C8D-0DE4-59A1-9FEE-570B6B899EB6}"/>
              </a:ext>
            </a:extLst>
          </p:cNvPr>
          <p:cNvSpPr txBox="1"/>
          <p:nvPr/>
        </p:nvSpPr>
        <p:spPr>
          <a:xfrm>
            <a:off x="4567688" y="931854"/>
            <a:ext cx="45763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Pixel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的值可以區分此點是物件還是背景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Forward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與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Backward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操作不會有邊界問題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32*32 pixels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6B3D597-6A3F-4573-3576-DA5F32958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96" y="3143680"/>
            <a:ext cx="4344779" cy="171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29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作業八簡述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FF1E513-A459-09D5-040E-310F00CD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50" y="931854"/>
            <a:ext cx="3779848" cy="39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22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3200" b="1" i="0" u="none" strike="noStrike" kern="1200" cap="all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Arial"/>
              </a:rPr>
              <a:t>第二次期中考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8B5655-B283-A921-CAE8-FF7EA7BF3F0F}"/>
              </a:ext>
            </a:extLst>
          </p:cNvPr>
          <p:cNvSpPr txBox="1"/>
          <p:nvPr/>
        </p:nvSpPr>
        <p:spPr>
          <a:xfrm>
            <a:off x="560717" y="1242203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11/24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上機考試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考試時間：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9:30-12:00</a:t>
            </a:r>
          </a:p>
          <a:p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考試範圍：從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第一週到老師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11/17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所教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皆為考試範圍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考試地點：因修課人數眾多，暫定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EC9013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圖資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PC01</a:t>
            </a:r>
          </a:p>
          <a:p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將視情況同第一次期中考，要求部分同學以個人筆電應考</a:t>
            </a:r>
            <a:endParaRPr lang="en-US" altLang="zh-TW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3179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7675</TotalTime>
  <Words>1403</Words>
  <Application>Microsoft Office PowerPoint</Application>
  <PresentationFormat>如螢幕大小 (16:9)</PresentationFormat>
  <Paragraphs>312</Paragraphs>
  <Slides>28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微軟正黑體</vt:lpstr>
      <vt:lpstr>Calibri</vt:lpstr>
      <vt:lpstr>Arial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PROJECT PROPOSAL</dc:title>
  <dc:creator>IPL</dc:creator>
  <cp:lastModifiedBy>Rinya Meow</cp:lastModifiedBy>
  <cp:revision>294</cp:revision>
  <dcterms:modified xsi:type="dcterms:W3CDTF">2022-11-03T10:13:35Z</dcterms:modified>
</cp:coreProperties>
</file>